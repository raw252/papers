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81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BFA3E-97E1-044D-963C-4A6EC180FBD8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849B3-4E8E-1848-950F-656F9B38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2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oolside.ai/blog/introducing-laguna-xs-2-1" TargetMode="External"/><Relationship Id="rId13" Type="http://schemas.openxmlformats.org/officeDocument/2006/relationships/hyperlink" Target="https://huggingface.co/allenai/Olmo-3.1-32B-Think" TargetMode="External"/><Relationship Id="rId3" Type="http://schemas.openxmlformats.org/officeDocument/2006/relationships/hyperlink" Target="https://www.youtube.com/watch?v=nFiLFCrsg1w&amp;t=510" TargetMode="External"/><Relationship Id="rId7" Type="http://schemas.openxmlformats.org/officeDocument/2006/relationships/hyperlink" Target="https://www.reddit.com/r/LocalLLaMA/comments/1rdfhfx/new_qwen35_models_spotted_on_qwen_chat/" TargetMode="External"/><Relationship Id="rId12" Type="http://schemas.openxmlformats.org/officeDocument/2006/relationships/hyperlink" Target="https://www.youtube.com/shorts/SemHbN-fM80" TargetMode="External"/><Relationship Id="rId17" Type="http://schemas.openxmlformats.org/officeDocument/2006/relationships/hyperlink" Target="https://openrouter.ai/compare/google/gemma-4-31b-it/qwen/qwen3.5-35b-a3b" TargetMode="External"/><Relationship Id="rId2" Type="http://schemas.openxmlformats.org/officeDocument/2006/relationships/slide" Target="../slides/slide1.xml"/><Relationship Id="rId16" Type="http://schemas.openxmlformats.org/officeDocument/2006/relationships/hyperlink" Target="https://huggingface.co/poolside/Laguna-XS-2.1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openrouter.ai/compare/google/gemma-4-26b-a4b-it/qwen/qwen3.6-plus" TargetMode="External"/><Relationship Id="rId11" Type="http://schemas.openxmlformats.org/officeDocument/2006/relationships/hyperlink" Target="https://openai.com/index/introducing-gpt-oss/" TargetMode="External"/><Relationship Id="rId5" Type="http://schemas.openxmlformats.org/officeDocument/2006/relationships/hyperlink" Target="https://kie.ai/blog/what-is-ornith-1-0" TargetMode="External"/><Relationship Id="rId15" Type="http://schemas.openxmlformats.org/officeDocument/2006/relationships/hyperlink" Target="https://openrouter.ai/allenai/olmo-3.1-32b-think" TargetMode="External"/><Relationship Id="rId10" Type="http://schemas.openxmlformats.org/officeDocument/2006/relationships/hyperlink" Target="https://www.youtube.com/watch?v=8WRDlm1fSlg" TargetMode="External"/><Relationship Id="rId4" Type="http://schemas.openxmlformats.org/officeDocument/2006/relationships/hyperlink" Target="https://daily.dev/posts/udfuttgpi" TargetMode="External"/><Relationship Id="rId9" Type="http://schemas.openxmlformats.org/officeDocument/2006/relationships/hyperlink" Target="https://www.youtube.com/shorts/OX9gHj_5RGU" TargetMode="External"/><Relationship Id="rId14" Type="http://schemas.openxmlformats.org/officeDocument/2006/relationships/hyperlink" Target="https://www.reddit.com/r/LocalLLaMA/comments/1pky5u4/olmo_31_32b_think_instruct_new_additions_to_the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Ornith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Ornith-1.0-9B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Ornith-1.0-35B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Open-weight models specialized for self-improving agentic coding. Developed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Reinforce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San Francisco) post-trained via reinforcement learning over Qwen and Gemma backbones.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Qwen Family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Qwen3.6-35B-A3B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Qwen3.6-27B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Frontier open-weight models optimized for multi-step reasoning and software engineering. Developed by Alibaba Group's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Alibaba Cloud / Qwen Team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Qwen3.5-4B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lightweight, highly efficient compact model built for quick natural language workflows and local deployment. Developed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Alibaba Cloud / Qwen Team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Llama Family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Llama-3.1-8B-Instruct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Llama-3.2-3B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Multipurpose open-weight instruction-tuned models optimized for low-latency edge applications, structured tool calling, and general text processing. Developed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AI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Laguna Family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Laguna-XS-2.1-GGUF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33-billion parameter Mixture-of-Experts (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coding model optimized with active routing to 3B parameters per token for fast local coding tasks. Developed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Poolside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Western origin).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3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OpenAI Open Series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gpt-oss-120b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120-billion parameter Mixture-of-Experts (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open-weight reasoning model developed with advanced reinforcement learning techniques. Developed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OLMo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OLMo-3.1-32B-Think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OLMo-3-7B-Think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Fully open-source reasoning models utilizing extended reinforcement learning pipelines to generate long chain-of-thought (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tracking for math and programming. Developed by the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Allen Institute for AI (AI2)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/>
              </a:rPr>
              <a:t>3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Gemma Family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Gemma-4-31B-it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Gemma-4-E4B-it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State-of-the-art open-weight models trained natively for advanced logical instruction following, tool usage, and agentic workflows. Developed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[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/>
              </a:rPr>
              <a:t>1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/>
              </a:rPr>
              <a:t>2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849B3-4E8E-1848-950F-656F9B3812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3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7FA"/>
                </a:solidFill>
                <a:latin typeface="Aptos"/>
              </a:rPr>
              <a:t>HalCTF: a controlled experiment in harness efficiency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99648" y="292608"/>
            <a:ext cx="731520" cy="347472"/>
          </a:xfrm>
          <a:prstGeom prst="roundRect">
            <a:avLst/>
          </a:prstGeom>
          <a:solidFill>
            <a:srgbClr val="42D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D1117"/>
                </a:solidFill>
                <a:latin typeface="Aptos"/>
              </a:rPr>
              <a:t>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>
                <a:solidFill>
                  <a:srgbClr val="B7C3CF"/>
                </a:solidFill>
                <a:latin typeface="Aptos"/>
              </a:rPr>
              <a:t>AI Village held the model service centrally so teams competed on agent architecture, tools and autonomy—not GPU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88720"/>
            <a:ext cx="1097280" cy="3200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2880360" cy="2743200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550" b="1">
                <a:solidFill>
                  <a:srgbClr val="F05A28"/>
                </a:solidFill>
                <a:latin typeface="Aptos Display"/>
              </a:rPr>
              <a:t>Competition design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>
                <a:solidFill>
                  <a:srgbClr val="F5F7FA"/>
                </a:solidFill>
                <a:latin typeface="Aptos"/>
              </a:rPr>
              <a:t>• No direct human interaction with targets: the autonomous agent does the hacking.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>
                <a:solidFill>
                  <a:srgbClr val="F5F7FA"/>
                </a:solidFill>
                <a:latin typeface="Aptos"/>
              </a:rPr>
              <a:t>• Teams submitted OCI/Docker agent containers with their own architecture and tooling.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>
                <a:solidFill>
                  <a:srgbClr val="F5F7FA"/>
                </a:solidFill>
                <a:latin typeface="Aptos"/>
              </a:rPr>
              <a:t>• All inference routed to a centralized model service through an OpenAI-style API.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40">
                <a:solidFill>
                  <a:srgbClr val="F5F7FA"/>
                </a:solidFill>
                <a:latin typeface="Aptos"/>
              </a:rPr>
              <a:t>• Smaller models earned more points—explicitly rewarding harness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2" y="1389888"/>
            <a:ext cx="4846320" cy="2743200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dirty="0">
                <a:solidFill>
                  <a:srgbClr val="42D3E5"/>
                </a:solidFill>
                <a:latin typeface="Aptos"/>
              </a:rPr>
              <a:t>SAME SHARED MODEL POOL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0" dirty="0">
                <a:solidFill>
                  <a:srgbClr val="F5F7FA"/>
                </a:solidFill>
                <a:latin typeface="Aptos"/>
              </a:rPr>
              <a:t>Ornith-1.0-9B   •   Ornith-1.0-35B</a:t>
            </a:r>
            <a:br>
              <a:rPr dirty="0"/>
            </a:br>
            <a:r>
              <a:rPr sz="1160" b="0" dirty="0">
                <a:solidFill>
                  <a:srgbClr val="F5F7FA"/>
                </a:solidFill>
                <a:latin typeface="Aptos"/>
              </a:rPr>
              <a:t>Qwen3.6-35B-A3B   •   Qwen3.6-27B</a:t>
            </a:r>
            <a:br>
              <a:rPr dirty="0"/>
            </a:br>
            <a:r>
              <a:rPr sz="1160" b="0" dirty="0">
                <a:solidFill>
                  <a:srgbClr val="F5F7FA"/>
                </a:solidFill>
                <a:latin typeface="Aptos"/>
              </a:rPr>
              <a:t>Qwen3.5-4B   •   Llama-3.1-8B-Instruct</a:t>
            </a:r>
            <a:br>
              <a:rPr dirty="0"/>
            </a:br>
            <a:r>
              <a:rPr sz="1160" b="0" dirty="0">
                <a:solidFill>
                  <a:srgbClr val="F5F7FA"/>
                </a:solidFill>
                <a:latin typeface="Aptos"/>
              </a:rPr>
              <a:t>Llama-3.2-3B   •   Laguna-XS-2.1-GGUF</a:t>
            </a:r>
            <a:br>
              <a:rPr dirty="0"/>
            </a:br>
            <a:r>
              <a:rPr sz="1160" b="0" dirty="0">
                <a:solidFill>
                  <a:srgbClr val="F5F7FA"/>
                </a:solidFill>
                <a:latin typeface="Aptos"/>
              </a:rPr>
              <a:t>gpt-oss-120b   •   OLMo-3.1-32B-Think</a:t>
            </a:r>
            <a:br>
              <a:rPr dirty="0"/>
            </a:br>
            <a:r>
              <a:rPr sz="1160" b="0" dirty="0">
                <a:solidFill>
                  <a:srgbClr val="F5F7FA"/>
                </a:solidFill>
                <a:latin typeface="Aptos"/>
              </a:rPr>
              <a:t>OLMo-3-7B-Think   •   Gemma-4-31B-it</a:t>
            </a:r>
            <a:br>
              <a:rPr dirty="0"/>
            </a:br>
            <a:r>
              <a:rPr sz="1160" b="0" dirty="0">
                <a:solidFill>
                  <a:srgbClr val="F5F7FA"/>
                </a:solidFill>
                <a:latin typeface="Aptos"/>
              </a:rPr>
              <a:t>Gemma-4-E4B-it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89888"/>
            <a:ext cx="2926080" cy="2743200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3FB950"/>
                </a:solidFill>
                <a:latin typeface="Aptos"/>
              </a:rPr>
              <a:t>What the competition measured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F5F7FA"/>
                </a:solidFill>
                <a:latin typeface="Aptos"/>
              </a:rPr>
              <a:t>decision loop</a:t>
            </a:r>
            <a:br/>
            <a:r>
              <a:rPr sz="1180" b="0">
                <a:solidFill>
                  <a:srgbClr val="F5F7FA"/>
                </a:solidFill>
                <a:latin typeface="Aptos"/>
              </a:rPr>
              <a:t>task decomposition / routing</a:t>
            </a:r>
            <a:br/>
            <a:r>
              <a:rPr sz="1180" b="0">
                <a:solidFill>
                  <a:srgbClr val="F5F7FA"/>
                </a:solidFill>
                <a:latin typeface="Aptos"/>
              </a:rPr>
              <a:t>memory + context compression</a:t>
            </a:r>
            <a:br/>
            <a:r>
              <a:rPr sz="1180" b="0">
                <a:solidFill>
                  <a:srgbClr val="F5F7FA"/>
                </a:solidFill>
                <a:latin typeface="Aptos"/>
              </a:rPr>
              <a:t>parallel exploration</a:t>
            </a:r>
            <a:br/>
            <a:r>
              <a:rPr sz="1180" b="0">
                <a:solidFill>
                  <a:srgbClr val="F5F7FA"/>
                </a:solidFill>
                <a:latin typeface="Aptos"/>
              </a:rPr>
              <a:t>tool selection</a:t>
            </a:r>
            <a:br/>
            <a:r>
              <a:rPr sz="1180" b="0">
                <a:solidFill>
                  <a:srgbClr val="F5F7FA"/>
                </a:solidFill>
                <a:latin typeface="Aptos"/>
              </a:rPr>
              <a:t>failure → observation → retry</a:t>
            </a:r>
            <a:br/>
            <a:r>
              <a:rPr sz="1180" b="0">
                <a:solidFill>
                  <a:srgbClr val="F5F7FA"/>
                </a:solidFill>
                <a:latin typeface="Aptos"/>
              </a:rPr>
              <a:t>flag extraction + submission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07408"/>
            <a:ext cx="10561320" cy="1078992"/>
          </a:xfrm>
          <a:prstGeom prst="roundRect">
            <a:avLst/>
          </a:prstGeom>
          <a:solidFill>
            <a:srgbClr val="1C2733"/>
          </a:solidFill>
          <a:ln w="1270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EC757"/>
                </a:solidFill>
                <a:latin typeface="Aptos"/>
              </a:rPr>
              <a:t>“How good are you at making the harness?”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B7C3CF"/>
                </a:solidFill>
                <a:latin typeface="Aptos"/>
              </a:rPr>
              <a:t>AI Village deliberately withheld Kimi-K3 as “too easy” and asked how much capability teams could extract from smaller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65392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B7C3CF"/>
                </a:solidFill>
                <a:latin typeface="Aptos"/>
              </a:rPr>
              <a:t>[4] AI Village, “HalCTF: Hostile Autonomous Layer CTF at DEFCON 34,” Jul. 24,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28816"/>
            <a:ext cx="25603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B7C3C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7FA"/>
                </a:solidFill>
                <a:latin typeface="Aptos"/>
              </a:rPr>
              <a:t>The capability is the system — model × harness × MCP/tools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99648" y="292608"/>
            <a:ext cx="731520" cy="347472"/>
          </a:xfrm>
          <a:prstGeom prst="roundRect">
            <a:avLst/>
          </a:prstGeom>
          <a:solidFill>
            <a:srgbClr val="42D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D1117"/>
                </a:solidFill>
                <a:latin typeface="Aptos"/>
              </a:rPr>
              <a:t>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>
                <a:solidFill>
                  <a:srgbClr val="B7C3CF"/>
                </a:solidFill>
                <a:latin typeface="Aptos"/>
              </a:rPr>
              <a:t>The harness turns model reasoning into repeatable, testable cyber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88720"/>
            <a:ext cx="1097280" cy="3200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691640" cy="758952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1">
                <a:solidFill>
                  <a:srgbClr val="F5F7FA"/>
                </a:solidFill>
                <a:latin typeface="Aptos"/>
              </a:rPr>
              <a:t>Challenge /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733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7C3C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81328"/>
            <a:ext cx="1600200" cy="758952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42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1">
                <a:solidFill>
                  <a:srgbClr val="F5F7FA"/>
                </a:solidFill>
                <a:latin typeface="Aptos"/>
              </a:rPr>
              <a:t>Orchestrator +</a:t>
            </a:r>
            <a:br/>
            <a:r>
              <a:rPr sz="1240" b="1">
                <a:solidFill>
                  <a:srgbClr val="F5F7FA"/>
                </a:solidFill>
                <a:latin typeface="Aptos"/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16733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7C3C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481328"/>
            <a:ext cx="2057400" cy="758952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B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1">
                <a:solidFill>
                  <a:srgbClr val="F5F7FA"/>
                </a:solidFill>
                <a:latin typeface="Aptos"/>
              </a:rPr>
              <a:t>Specialist agents</a:t>
            </a:r>
            <a:br/>
            <a:r>
              <a:rPr sz="1240" b="1">
                <a:solidFill>
                  <a:srgbClr val="F5F7FA"/>
                </a:solidFill>
                <a:latin typeface="Aptos"/>
              </a:rPr>
              <a:t>PWN • RE • WEB • crypto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6733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7C3C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81328"/>
            <a:ext cx="1691640" cy="758952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1">
                <a:solidFill>
                  <a:srgbClr val="F5F7FA"/>
                </a:solidFill>
                <a:latin typeface="Aptos"/>
              </a:rPr>
              <a:t>MCP / tool</a:t>
            </a:r>
            <a:br/>
            <a:r>
              <a:rPr sz="1240" b="1">
                <a:solidFill>
                  <a:srgbClr val="F5F7FA"/>
                </a:solidFill>
                <a:latin typeface="Aptos"/>
              </a:rPr>
              <a:t>gateways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67335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7C3C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6648" y="1481328"/>
            <a:ext cx="1783080" cy="758952"/>
          </a:xfrm>
          <a:prstGeom prst="roundRect">
            <a:avLst/>
          </a:prstGeom>
          <a:solidFill>
            <a:srgbClr val="18212C"/>
          </a:solidFill>
          <a:ln w="12700">
            <a:solidFill>
              <a:srgbClr val="EE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40" b="1">
                <a:solidFill>
                  <a:srgbClr val="F5F7FA"/>
                </a:solidFill>
                <a:latin typeface="Aptos"/>
              </a:rPr>
              <a:t>Runtime</a:t>
            </a:r>
            <a:br/>
            <a:r>
              <a:rPr sz="1240" b="1">
                <a:solidFill>
                  <a:srgbClr val="F5F7FA"/>
                </a:solidFill>
                <a:latin typeface="Aptos"/>
              </a:rPr>
              <a:t>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24328"/>
            <a:ext cx="2606040" cy="2212848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42D3E5"/>
                </a:solidFill>
                <a:latin typeface="Aptos Display"/>
              </a:rPr>
              <a:t>Kali MCP / shell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Nmap / NXC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curl / wget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Gobuster / FFUF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SQLMap / Hydra / John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raw terminal commands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2624328"/>
            <a:ext cx="2606040" cy="2212848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05A28"/>
                </a:solidFill>
                <a:latin typeface="Aptos Display"/>
              </a:rPr>
              <a:t>Metasploit MCP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search modules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query hosts/services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execute modules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interact with sessions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structured exploit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2624328"/>
            <a:ext cx="2606040" cy="2212848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BE82FF"/>
                </a:solidFill>
                <a:latin typeface="Aptos Display"/>
              </a:rPr>
              <a:t>Reverse engineering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IDA Pro MCP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Ghidra MCP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decompile / xrefs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rename / annotate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60">
                <a:solidFill>
                  <a:srgbClr val="F5F7FA"/>
                </a:solidFill>
                <a:latin typeface="Aptos"/>
              </a:rPr>
              <a:t>• debug / patch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2624328"/>
            <a:ext cx="2816352" cy="2212848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3FB950"/>
                </a:solidFill>
                <a:latin typeface="Aptos Display"/>
              </a:rPr>
              <a:t>Other deterministic tools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19">
                <a:solidFill>
                  <a:srgbClr val="F5F7FA"/>
                </a:solidFill>
                <a:latin typeface="Aptos"/>
              </a:rPr>
              <a:t>• GDB / LLDB / pwntools / angr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19">
                <a:solidFill>
                  <a:srgbClr val="F5F7FA"/>
                </a:solidFill>
                <a:latin typeface="Aptos"/>
              </a:rPr>
              <a:t>• Playwright / Burp / ZAP / Nuclei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19">
                <a:solidFill>
                  <a:srgbClr val="F5F7FA"/>
                </a:solidFill>
                <a:latin typeface="Aptos"/>
              </a:rPr>
              <a:t>• Z3 / SageMath / Python / QEMU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19">
                <a:solidFill>
                  <a:srgbClr val="F5F7FA"/>
                </a:solidFill>
                <a:latin typeface="Aptos"/>
              </a:rPr>
              <a:t>• BloodHound / Semgrep / Trivy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744200" cy="758952"/>
          </a:xfrm>
          <a:prstGeom prst="roundRect">
            <a:avLst/>
          </a:prstGeom>
          <a:solidFill>
            <a:srgbClr val="1C2733"/>
          </a:solidFill>
          <a:ln w="12700"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EC757"/>
                </a:solidFill>
                <a:latin typeface="Aptos"/>
              </a:rPr>
              <a:t>MCP standardizes the agent ↔ tool boundary; it does not make the tool call safe.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B7C3CF"/>
                </a:solidFill>
                <a:latin typeface="Aptos"/>
              </a:rPr>
              <a:t>Identity, authorization, sandboxing, egress controls, audit and retry policy still belong to the harness/runtime.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B7C3CF"/>
                </a:solidFill>
                <a:latin typeface="Aptos"/>
              </a:rPr>
              <a:t>[5] Kali MCP  [6] Rapid7 Metasploit MCP  [7] Cisco Talos / IDA MCP  [8] Ghidra MCP community implementations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28816"/>
            <a:ext cx="25603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B7C3C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7FA"/>
                </a:solidFill>
                <a:latin typeface="Aptos"/>
              </a:rPr>
              <a:t>DEF CON 34 badge: security you can inspect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99648" y="292608"/>
            <a:ext cx="731520" cy="347472"/>
          </a:xfrm>
          <a:prstGeom prst="roundRect">
            <a:avLst/>
          </a:prstGeom>
          <a:solidFill>
            <a:srgbClr val="42D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D1117"/>
                </a:solidFill>
                <a:latin typeface="Aptos"/>
              </a:rPr>
              <a:t>1:20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>
                <a:solidFill>
                  <a:srgbClr val="B7C3CF"/>
                </a:solidFill>
                <a:latin typeface="Aptos"/>
              </a:rPr>
              <a:t>A conference badge built around verifiable silicon and a reusable security-token 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88720"/>
            <a:ext cx="1097280" cy="3200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rop_badge.jpg_73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53312"/>
            <a:ext cx="4901184" cy="4983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20840" y="1353312"/>
            <a:ext cx="4901184" cy="4983480"/>
          </a:xfrm>
          <a:prstGeom prst="rect">
            <a:avLst/>
          </a:prstGeom>
          <a:noFill/>
          <a:ln>
            <a:solidFill>
              <a:srgbClr val="42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5806440" cy="3794760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F05A28"/>
                </a:solidFill>
                <a:latin typeface="Aptos Display"/>
              </a:rPr>
              <a:t>Baochip-1x — Andrew “bunnie” Huang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10">
                <a:solidFill>
                  <a:srgbClr val="F5F7FA"/>
                </a:solidFill>
                <a:latin typeface="Aptos"/>
              </a:rPr>
              <a:t>• Mostly open RISC-V microcontroller: OS, firmware, CPU core, crypto engines and I/O source are published for inspection.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10">
                <a:solidFill>
                  <a:srgbClr val="F5F7FA"/>
                </a:solidFill>
                <a:latin typeface="Aptos"/>
              </a:rPr>
              <a:t>• Packaging allows infrared inspection of the silicon—an unusual supply-chain verification feature.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10">
                <a:solidFill>
                  <a:srgbClr val="F5F7FA"/>
                </a:solidFill>
                <a:latin typeface="Aptos"/>
              </a:rPr>
              <a:t>• Detachable core becomes a FIDO / TOTP / password-management security token; a low-resolution near-sighted camera scans QR codes.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10">
                <a:solidFill>
                  <a:srgbClr val="F5F7FA"/>
                </a:solidFill>
                <a:latin typeface="Aptos"/>
              </a:rPr>
              <a:t>• Rust OS, secure boot, TRNG and RRAM; 350 MHz RISC-V + 2 MB SRAM + 4 MB RRAM; MicroPython plus C/Rust SDKs.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358384"/>
            <a:ext cx="5440680" cy="749808"/>
          </a:xfrm>
          <a:prstGeom prst="roundRect">
            <a:avLst/>
          </a:prstGeom>
          <a:solidFill>
            <a:srgbClr val="1C2733"/>
          </a:solidFill>
          <a:ln w="12700"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2D3E5"/>
                </a:solidFill>
                <a:latin typeface="Aptos"/>
              </a:rPr>
              <a:t>27,000 badges = Baochip’s first major distribution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B7C3CF"/>
                </a:solidFill>
                <a:latin typeface="Aptos"/>
              </a:rPr>
              <a:t>Theme fit: “Agency” — trust through inspectability, reuse and user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6364224"/>
            <a:ext cx="4663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B7C3CF"/>
                </a:solidFill>
                <a:latin typeface="Aptos"/>
              </a:rPr>
              <a:t>Photo: user-provided, DEF CON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65392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B7C3CF"/>
                </a:solidFill>
                <a:latin typeface="Aptos"/>
              </a:rPr>
              <a:t>[9] WIRED, “The New Defcon Badges Pack a Unique Open Source Chip That Doubles as a Security Key,” Jul. 31,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28816"/>
            <a:ext cx="25603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B7C3C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7FA"/>
                </a:solidFill>
                <a:latin typeface="Aptos"/>
              </a:rPr>
              <a:t>Cliff Stoll: 40 years later, the fundamentals still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99648" y="292608"/>
            <a:ext cx="731520" cy="347472"/>
          </a:xfrm>
          <a:prstGeom prst="roundRect">
            <a:avLst/>
          </a:prstGeom>
          <a:solidFill>
            <a:srgbClr val="42D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D1117"/>
                </a:solidFill>
                <a:latin typeface="Aptos"/>
              </a:rPr>
              <a:t>1:20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>
                <a:solidFill>
                  <a:srgbClr val="B7C3CF"/>
                </a:solidFill>
                <a:latin typeface="Aptos"/>
              </a:rPr>
              <a:t>“Stalking the Wily Hacker… 40 Years Later” revisited the investigation that became The Cuckoo’s Egg.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88720"/>
            <a:ext cx="1097280" cy="3200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rop_stoll.jpg_6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53312"/>
            <a:ext cx="6629400" cy="4956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353312"/>
            <a:ext cx="6629400" cy="4956048"/>
          </a:xfrm>
          <a:prstGeom prst="rect">
            <a:avLst/>
          </a:prstGeom>
          <a:noFill/>
          <a:ln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6640" y="1353312"/>
            <a:ext cx="4206240" cy="3794760"/>
          </a:xfrm>
          <a:prstGeom prst="roundRect">
            <a:avLst/>
          </a:prstGeom>
          <a:solidFill>
            <a:srgbClr val="18212C"/>
          </a:solidFill>
          <a:ln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18872" rIns="155448" bIns="118872" rtlCol="0" anchor="ctr"/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42D3E5"/>
                </a:solidFill>
                <a:latin typeface="Aptos Display"/>
              </a:rPr>
              <a:t>Why the story still matters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80">
                <a:solidFill>
                  <a:srgbClr val="F5F7FA"/>
                </a:solidFill>
                <a:latin typeface="Aptos"/>
              </a:rPr>
              <a:t>• 1986: a 75-cent accounting discrepancy triggered a months-long investigation of a KGB-linked intrusion.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80">
                <a:solidFill>
                  <a:srgbClr val="F5F7FA"/>
                </a:solidFill>
                <a:latin typeface="Aptos"/>
              </a:rPr>
              <a:t>• The investigation became an early model for network forensics: follow logs, correlate small anomalies and preserve evidence.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80">
                <a:solidFill>
                  <a:srgbClr val="F5F7FA"/>
                </a:solidFill>
                <a:latin typeface="Aptos"/>
              </a:rPr>
              <a:t>• Stoll used deception / honeypot-style bait to keep the intruder engaged long enough to trace the connection.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80">
                <a:solidFill>
                  <a:srgbClr val="F5F7FA"/>
                </a:solidFill>
                <a:latin typeface="Aptos"/>
              </a:rPr>
              <a:t>• DEF CON delivery matched the message: overhead projector + handwritten transparencies, not a modern slide deck.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5358384"/>
            <a:ext cx="3931920" cy="749808"/>
          </a:xfrm>
          <a:prstGeom prst="roundRect">
            <a:avLst/>
          </a:prstGeom>
          <a:solidFill>
            <a:srgbClr val="1C2733"/>
          </a:solidFill>
          <a:ln w="12700">
            <a:solidFill>
              <a:srgbClr val="2A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EC757"/>
                </a:solidFill>
                <a:latin typeface="Aptos"/>
              </a:rPr>
              <a:t>TAKEAWAY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F5F7FA"/>
                </a:solidFill>
                <a:latin typeface="Aptos"/>
              </a:rPr>
              <a:t>Tools change; curiosity, persistence, evidence and skepticism remain durable defensive advantages.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64224"/>
            <a:ext cx="6355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B7C3CF"/>
                </a:solidFill>
                <a:latin typeface="Aptos"/>
              </a:rPr>
              <a:t>Photo: user-provided, DEF CON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65392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B7C3CF"/>
                </a:solidFill>
                <a:latin typeface="Aptos"/>
              </a:rPr>
              <a:t>[10] D. Mechaber, DEF CON 34 attendee account  [11] C. Stoll, “Stalking the Wily Hacker,” Commun. ACM, 1988.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28816"/>
            <a:ext cx="25603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B7C3C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1089</Words>
  <Application>Microsoft Macintosh PowerPoint</Application>
  <PresentationFormat>Widescreen</PresentationFormat>
  <Paragraphs>97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Roberto Wenzel</dc:creator>
  <cp:keywords/>
  <dc:description>generated using python-pptx</dc:description>
  <cp:lastModifiedBy>Roberto Wenzel</cp:lastModifiedBy>
  <cp:revision>6</cp:revision>
  <dcterms:created xsi:type="dcterms:W3CDTF">2013-01-27T09:14:16Z</dcterms:created>
  <dcterms:modified xsi:type="dcterms:W3CDTF">2026-08-18T12:46:06Z</dcterms:modified>
  <cp:category/>
</cp:coreProperties>
</file>